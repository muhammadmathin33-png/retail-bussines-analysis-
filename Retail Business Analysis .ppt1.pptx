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BD13C-C498-2565-A840-5AADE0AFB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4D3E7-46BC-C724-9397-53B18E366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8DEC3-F3B6-E0BA-25A6-E189A995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02138-8B49-0D77-50C0-0E0126A7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C784B-69BE-DA31-E5DB-805E66F1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60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5778-6AF8-1963-98E5-7DF8DD217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FFA3-72AC-E672-AA31-C011D7A22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37F31-92F2-C47B-55ED-8F9F4EA7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90288-ED64-80B6-E440-C47B62D3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D5DB-84B5-0F27-4FAD-08054D41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37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3C3A-5931-A372-B88E-0646E0B6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0131B-794D-6665-B003-4932C14E9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8E23A-1362-B046-E3F9-B2B57D34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A626-3A98-348A-6488-4BE4AA89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024F4-B296-8F65-F5EC-10BBD92A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05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986F-406A-64E1-5242-380C28C4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49971-DF32-4A30-2FBD-905821A6B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4C0F5-D46B-2E94-0682-10EAF0C9A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A3D14-3D8A-581D-79A1-E0780ABD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1526B-0079-9BD7-BC87-CD2A0446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B2650-6596-0EDB-60B9-26DD8CBD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74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2BFC-8199-A8A7-5CFB-6F3EAF28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0A691-F6E3-D8F0-3BC3-086315F4B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F2A18-41DD-BC13-4746-AC31952BD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88C72-64FC-FEEC-2C48-22CDEDA68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DABDC-C8DE-74D7-EE9B-45AB3FC27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F3A83-E556-8551-18A0-CF5D0BCE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41297-9ACE-B948-4618-88B0155A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BAA495-3016-AD7C-4A39-F6107164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00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EDC9-1600-5025-8AFD-EFB89938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6669D-DEB1-86AE-122B-C778E844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6776B-8451-B05C-5AA1-8B9FCB87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535E5-96F5-54DC-1577-CB931DB6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309A0-2BD7-E69E-D726-D99F34B1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5572A-E2F3-8CFD-9C32-D603F98E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99F05-8D2E-7E79-3972-35C584A9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51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1548-589D-AC40-CDB1-D0A2B2015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20D7-A85C-C3D8-8502-C5191960A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CC831-83C5-FFE8-1172-947CBB548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FBA90-A6BF-E1F4-BCC8-DC1A5E68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1F91B-C78E-1505-1010-6A01F47F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43ED7-008A-1C0B-B711-90A6638F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76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2B05-BAAE-2DFC-9D0E-019885D25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202FD-2F13-70C6-CBC2-D554E9CD8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12047-2FF4-614A-8401-359C75B82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E824C-8901-336C-1043-9D38D9AC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6B6AD-5AFE-EE0D-D547-F54747A8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58716-5B66-F888-89C6-D43DF991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24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108B-0BC8-6B98-B394-AE3EF44F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87977-79E3-415F-FC16-4E33B2402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0DA47-AE3E-EAED-BD41-6B52DB9F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14268-D603-0115-0E50-428C0862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0FD0C-6D06-BE42-9584-5884762E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09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2DB93C-C81E-AFCC-AC22-0C7FEED94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C310C-0E56-FDEF-64D4-340F755AA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A3EC-DC55-6281-620C-48758CBD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E5FDB-5B87-E2BC-4B46-87F92C25A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860DA-868F-E5BB-8EC7-69EAF949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24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05760-1612-F711-699D-19CFE661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014E1-9C0F-87B0-F868-74BD74F3B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AC097-1AFD-F57F-E7B4-F90FB35A2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B512E-9655-437C-AFF3-93DA80C9203D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1AED4-E43D-F817-6C06-B9003DA0D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64D22-FA1E-C52A-6FBB-23D24C4DD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0396E-A823-4B3F-8845-EC6C838FD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22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3C7C141-0015-33BC-500D-D6D318724924}"/>
              </a:ext>
            </a:extLst>
          </p:cNvPr>
          <p:cNvGrpSpPr/>
          <p:nvPr/>
        </p:nvGrpSpPr>
        <p:grpSpPr>
          <a:xfrm>
            <a:off x="0" y="76722"/>
            <a:ext cx="11956025" cy="6838212"/>
            <a:chOff x="0" y="76722"/>
            <a:chExt cx="11956025" cy="68382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37F288F-95BD-614C-930B-D276DDF944EA}"/>
                </a:ext>
              </a:extLst>
            </p:cNvPr>
            <p:cNvGrpSpPr/>
            <p:nvPr/>
          </p:nvGrpSpPr>
          <p:grpSpPr>
            <a:xfrm>
              <a:off x="0" y="2799736"/>
              <a:ext cx="2615381" cy="629264"/>
              <a:chOff x="0" y="2517058"/>
              <a:chExt cx="2615381" cy="62926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D3CE23B-AE83-F73A-F49C-23BE1F6F700C}"/>
                  </a:ext>
                </a:extLst>
              </p:cNvPr>
              <p:cNvSpPr/>
              <p:nvPr/>
            </p:nvSpPr>
            <p:spPr>
              <a:xfrm>
                <a:off x="0" y="2517058"/>
                <a:ext cx="2615381" cy="62926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550890-5496-5AD2-2D29-6E41B28F8277}"/>
                  </a:ext>
                </a:extLst>
              </p:cNvPr>
              <p:cNvSpPr txBox="1"/>
              <p:nvPr/>
            </p:nvSpPr>
            <p:spPr>
              <a:xfrm>
                <a:off x="98323" y="2625213"/>
                <a:ext cx="22024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>
                    <a:highlight>
                      <a:srgbClr val="FFFF00"/>
                    </a:highlight>
                  </a:rPr>
                  <a:t>Retail Business Analysis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73A77AD-1B7D-252F-C620-40907F7D14BE}"/>
                </a:ext>
              </a:extLst>
            </p:cNvPr>
            <p:cNvGrpSpPr/>
            <p:nvPr/>
          </p:nvGrpSpPr>
          <p:grpSpPr>
            <a:xfrm>
              <a:off x="3323303" y="76722"/>
              <a:ext cx="8632722" cy="1844578"/>
              <a:chOff x="3224980" y="148285"/>
              <a:chExt cx="8632722" cy="184457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99C042F-0EB5-1025-E0EC-A0AEE49432B5}"/>
                  </a:ext>
                </a:extLst>
              </p:cNvPr>
              <p:cNvSpPr/>
              <p:nvPr/>
            </p:nvSpPr>
            <p:spPr>
              <a:xfrm>
                <a:off x="3224980" y="148285"/>
                <a:ext cx="8632722" cy="169114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89FBA8-3B23-53E0-D672-20F456F9F625}"/>
                  </a:ext>
                </a:extLst>
              </p:cNvPr>
              <p:cNvSpPr txBox="1"/>
              <p:nvPr/>
            </p:nvSpPr>
            <p:spPr>
              <a:xfrm>
                <a:off x="3303639" y="176981"/>
                <a:ext cx="6617109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🟧 Sales Performance</a:t>
                </a:r>
              </a:p>
              <a:p>
                <a:r>
                  <a:rPr lang="en-US" sz="1400" dirty="0"/>
                  <a:t>📊 </a:t>
                </a:r>
                <a:r>
                  <a:rPr lang="en-US" sz="1400" b="1" dirty="0"/>
                  <a:t>Revenue Trends</a:t>
                </a:r>
                <a:br>
                  <a:rPr lang="en-US" sz="1400" dirty="0"/>
                </a:br>
                <a:r>
                  <a:rPr lang="en-US" sz="1400" dirty="0"/>
                  <a:t>Analyze monthly and yearly sales trends to understand business growth.</a:t>
                </a:r>
              </a:p>
              <a:p>
                <a:r>
                  <a:rPr lang="en-US" sz="1400" dirty="0"/>
                  <a:t>🏆 </a:t>
                </a:r>
                <a:r>
                  <a:rPr lang="en-US" sz="1400" b="1" dirty="0"/>
                  <a:t>Top-Selling Products</a:t>
                </a:r>
                <a:br>
                  <a:rPr lang="en-US" sz="1400" dirty="0"/>
                </a:br>
                <a:r>
                  <a:rPr lang="en-US" sz="1400" dirty="0"/>
                  <a:t>Identify best-performing products and product lines by revenue.</a:t>
                </a:r>
              </a:p>
              <a:p>
                <a:r>
                  <a:rPr lang="en-US" sz="1400" dirty="0"/>
                  <a:t>💰 </a:t>
                </a:r>
                <a:r>
                  <a:rPr lang="en-US" sz="1400" b="1" dirty="0"/>
                  <a:t>Payment Analysis</a:t>
                </a:r>
                <a:br>
                  <a:rPr lang="en-US" sz="1400" dirty="0"/>
                </a:br>
                <a:r>
                  <a:rPr lang="en-US" sz="1400" dirty="0"/>
                  <a:t>Evaluate customer payments to assess cash flow patterns.</a:t>
                </a:r>
              </a:p>
              <a:p>
                <a:endParaRPr lang="en-US" sz="140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A1B279F-4C37-0864-1EC1-99D1F86B909D}"/>
                </a:ext>
              </a:extLst>
            </p:cNvPr>
            <p:cNvGrpSpPr/>
            <p:nvPr/>
          </p:nvGrpSpPr>
          <p:grpSpPr>
            <a:xfrm>
              <a:off x="3323303" y="1945154"/>
              <a:ext cx="8632722" cy="1527414"/>
              <a:chOff x="3303639" y="2013632"/>
              <a:chExt cx="8632722" cy="152741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1150F0E-2E5B-B926-43F5-143E07CA4DFC}"/>
                  </a:ext>
                </a:extLst>
              </p:cNvPr>
              <p:cNvSpPr/>
              <p:nvPr/>
            </p:nvSpPr>
            <p:spPr>
              <a:xfrm>
                <a:off x="3303639" y="2013632"/>
                <a:ext cx="8632722" cy="136422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F25E5F-A925-A8CD-4954-52930D9F9E6F}"/>
                  </a:ext>
                </a:extLst>
              </p:cNvPr>
              <p:cNvSpPr txBox="1"/>
              <p:nvPr/>
            </p:nvSpPr>
            <p:spPr>
              <a:xfrm>
                <a:off x="3411794" y="2156051"/>
                <a:ext cx="765932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🟧 Geographic &amp; Business Insights</a:t>
                </a:r>
              </a:p>
              <a:p>
                <a:r>
                  <a:rPr lang="en-US" sz="1400" dirty="0"/>
                  <a:t>🌍 </a:t>
                </a:r>
                <a:r>
                  <a:rPr lang="en-US" sz="1400" b="1" dirty="0"/>
                  <a:t>Regional Performance</a:t>
                </a:r>
                <a:br>
                  <a:rPr lang="en-US" sz="1400" dirty="0"/>
                </a:br>
                <a:r>
                  <a:rPr lang="en-US" sz="1400" dirty="0"/>
                  <a:t>Analyze sales performance across countries and cities.</a:t>
                </a:r>
              </a:p>
              <a:p>
                <a:r>
                  <a:rPr lang="en-US" sz="1400" dirty="0"/>
                  <a:t>📈 </a:t>
                </a:r>
                <a:r>
                  <a:rPr lang="en-US" sz="1400" b="1" dirty="0"/>
                  <a:t>Key Insights &amp; Recommendations</a:t>
                </a:r>
                <a:br>
                  <a:rPr lang="en-US" sz="1400" dirty="0"/>
                </a:br>
                <a:r>
                  <a:rPr lang="en-US" sz="1400" dirty="0"/>
                  <a:t>Provide actionable insights for sales improvement, inventory optimization, and targeted marketing.</a:t>
                </a:r>
              </a:p>
              <a:p>
                <a:endParaRPr lang="en-IN" sz="1400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0A170C-66B2-D8FD-D566-9793DC4C6F6E}"/>
                </a:ext>
              </a:extLst>
            </p:cNvPr>
            <p:cNvGrpSpPr/>
            <p:nvPr/>
          </p:nvGrpSpPr>
          <p:grpSpPr>
            <a:xfrm>
              <a:off x="3323303" y="3496422"/>
              <a:ext cx="8632722" cy="1569660"/>
              <a:chOff x="3303640" y="3520277"/>
              <a:chExt cx="8632722" cy="156966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0F2431-7887-0239-C1D2-8F118F798343}"/>
                  </a:ext>
                </a:extLst>
              </p:cNvPr>
              <p:cNvSpPr/>
              <p:nvPr/>
            </p:nvSpPr>
            <p:spPr>
              <a:xfrm>
                <a:off x="3303640" y="3541046"/>
                <a:ext cx="8632722" cy="136422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04FDA1-451E-7456-CF2E-4DD8EFF075D5}"/>
                  </a:ext>
                </a:extLst>
              </p:cNvPr>
              <p:cNvSpPr txBox="1"/>
              <p:nvPr/>
            </p:nvSpPr>
            <p:spPr>
              <a:xfrm>
                <a:off x="3323303" y="3520277"/>
                <a:ext cx="843607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🟧 Customer Analysis</a:t>
                </a:r>
              </a:p>
              <a:p>
                <a:r>
                  <a:rPr lang="en-US" sz="1200" dirty="0"/>
                  <a:t>👥 </a:t>
                </a:r>
                <a:r>
                  <a:rPr lang="en-US" sz="1200" b="1" dirty="0"/>
                  <a:t>Customer Demographics</a:t>
                </a:r>
                <a:br>
                  <a:rPr lang="en-US" sz="1200" dirty="0"/>
                </a:br>
                <a:r>
                  <a:rPr lang="en-US" sz="1200" dirty="0"/>
                  <a:t>Analyze customer distribution by region and country.</a:t>
                </a:r>
              </a:p>
              <a:p>
                <a:r>
                  <a:rPr lang="en-US" sz="1200" dirty="0"/>
                  <a:t>🌟 </a:t>
                </a:r>
                <a:r>
                  <a:rPr lang="en-US" sz="1200" b="1" dirty="0"/>
                  <a:t>Top Customers</a:t>
                </a:r>
                <a:br>
                  <a:rPr lang="en-US" sz="1200" dirty="0"/>
                </a:br>
                <a:r>
                  <a:rPr lang="en-US" sz="1200" dirty="0"/>
                  <a:t>Identify high-value customers contributing maximum sales.</a:t>
                </a:r>
              </a:p>
              <a:p>
                <a:r>
                  <a:rPr lang="en-US" sz="1200" dirty="0"/>
                  <a:t>💳 </a:t>
                </a:r>
                <a:r>
                  <a:rPr lang="en-US" sz="1200" b="1" dirty="0"/>
                  <a:t>Credit Behavior</a:t>
                </a:r>
                <a:br>
                  <a:rPr lang="en-US" sz="1200" dirty="0"/>
                </a:br>
                <a:r>
                  <a:rPr lang="en-US" sz="1200" dirty="0"/>
                  <a:t>Analyze the relationship between credit limits and sales.</a:t>
                </a:r>
              </a:p>
              <a:p>
                <a:endParaRPr lang="en-IN" sz="1200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3987B6B-81DA-D528-3B70-654AC201EDEE}"/>
                </a:ext>
              </a:extLst>
            </p:cNvPr>
            <p:cNvGrpSpPr/>
            <p:nvPr/>
          </p:nvGrpSpPr>
          <p:grpSpPr>
            <a:xfrm>
              <a:off x="3323303" y="5089937"/>
              <a:ext cx="8632722" cy="1824997"/>
              <a:chOff x="3323303" y="5089937"/>
              <a:chExt cx="8632722" cy="182499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5F3A6AB-B1D7-FB19-B8F7-6A328027E665}"/>
                  </a:ext>
                </a:extLst>
              </p:cNvPr>
              <p:cNvSpPr/>
              <p:nvPr/>
            </p:nvSpPr>
            <p:spPr>
              <a:xfrm>
                <a:off x="3323303" y="5089937"/>
                <a:ext cx="8632722" cy="1691148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BB7C04-A969-13C5-0C69-A39ACC205303}"/>
                  </a:ext>
                </a:extLst>
              </p:cNvPr>
              <p:cNvSpPr txBox="1"/>
              <p:nvPr/>
            </p:nvSpPr>
            <p:spPr>
              <a:xfrm>
                <a:off x="3411794" y="5099052"/>
                <a:ext cx="834758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🟧 Product &amp; Inventory Analysis</a:t>
                </a:r>
              </a:p>
              <a:p>
                <a:r>
                  <a:rPr lang="en-US" sz="1400" dirty="0"/>
                  <a:t>🧩 </a:t>
                </a:r>
                <a:r>
                  <a:rPr lang="en-US" sz="1400" b="1" dirty="0"/>
                  <a:t>Product Line Performance</a:t>
                </a:r>
                <a:br>
                  <a:rPr lang="en-US" sz="1400" dirty="0"/>
                </a:br>
                <a:r>
                  <a:rPr lang="en-US" sz="1400" dirty="0"/>
                  <a:t>Analyze sales contribution of different product categories.</a:t>
                </a:r>
              </a:p>
              <a:p>
                <a:r>
                  <a:rPr lang="en-US" sz="1400" dirty="0"/>
                  <a:t>📦 </a:t>
                </a:r>
                <a:r>
                  <a:rPr lang="en-US" sz="1400" b="1" dirty="0"/>
                  <a:t>Inventory Movement</a:t>
                </a:r>
                <a:br>
                  <a:rPr lang="en-US" sz="1400" dirty="0"/>
                </a:br>
                <a:r>
                  <a:rPr lang="en-US" sz="1400" dirty="0"/>
                  <a:t>Identify fast-moving and slow-moving products based on stock and sales.</a:t>
                </a:r>
              </a:p>
              <a:p>
                <a:r>
                  <a:rPr lang="en-US" sz="1400" dirty="0"/>
                  <a:t>💲 </a:t>
                </a:r>
                <a:r>
                  <a:rPr lang="en-US" sz="1400" b="1" dirty="0"/>
                  <a:t>Pricing Insights</a:t>
                </a:r>
                <a:br>
                  <a:rPr lang="en-US" sz="1400" dirty="0"/>
                </a:br>
                <a:r>
                  <a:rPr lang="en-US" sz="1400" dirty="0"/>
                  <a:t>Compare buy price and MSRP to evaluate pricing effectiveness.</a:t>
                </a:r>
              </a:p>
              <a:p>
                <a:endParaRPr lang="en-IN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311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0D7E18-BB80-C938-AED8-70ED33E90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716"/>
            <a:ext cx="12192000" cy="56872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AED81C-27EB-0663-1084-9C2C1770E585}"/>
              </a:ext>
            </a:extLst>
          </p:cNvPr>
          <p:cNvSpPr/>
          <p:nvPr/>
        </p:nvSpPr>
        <p:spPr>
          <a:xfrm>
            <a:off x="1" y="0"/>
            <a:ext cx="12192000" cy="11707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707EA-26CC-1631-50E5-80E0FBEACD12}"/>
              </a:ext>
            </a:extLst>
          </p:cNvPr>
          <p:cNvSpPr txBox="1"/>
          <p:nvPr/>
        </p:nvSpPr>
        <p:spPr>
          <a:xfrm>
            <a:off x="2684206" y="169859"/>
            <a:ext cx="4149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Data </a:t>
            </a:r>
            <a:r>
              <a:rPr lang="en-IN" sz="2400" b="1" dirty="0" err="1"/>
              <a:t>Modeling</a:t>
            </a:r>
            <a:r>
              <a:rPr lang="en-IN" sz="2400" b="1" dirty="0"/>
              <a:t> of Retail Business Analysis</a:t>
            </a:r>
          </a:p>
        </p:txBody>
      </p:sp>
    </p:spTree>
    <p:extLst>
      <p:ext uri="{BB962C8B-B14F-4D97-AF65-F5344CB8AC3E}">
        <p14:creationId xmlns:p14="http://schemas.microsoft.com/office/powerpoint/2010/main" val="176360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27A0F-30C0-E2D7-B8E7-514ED1A21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27"/>
            <a:ext cx="12192000" cy="681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32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504CD-74F4-6696-2690-EF0FADC8B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74"/>
            <a:ext cx="12192000" cy="680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4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7A6E9-8C2D-F47F-1131-EAB2BAF31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8490"/>
            <a:ext cx="12191999" cy="711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8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05EB22-5786-F039-EF1F-5F7A6288C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05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176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mohammad mathin</dc:creator>
  <cp:lastModifiedBy>shaik mohammad mathin</cp:lastModifiedBy>
  <cp:revision>1</cp:revision>
  <dcterms:created xsi:type="dcterms:W3CDTF">2026-02-02T15:19:18Z</dcterms:created>
  <dcterms:modified xsi:type="dcterms:W3CDTF">2026-02-02T20:11:30Z</dcterms:modified>
</cp:coreProperties>
</file>